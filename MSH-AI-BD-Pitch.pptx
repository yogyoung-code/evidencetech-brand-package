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【开场 30 秒】先确认在场角色（医学部 / BD / 数字化 / IT 法务），后续节奏据此调整。一句话定调：今天我们要谈的不是 AI 是什么，而是 — 你的医学证据如何接入 AI、并由医生签字。不要在 cover 停留太久。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三条痛点慢念，每条停顿 5 秒让对方接话。第一条 — 给 AI 部门 / IT 听；第二条 — 给医学部 / 市场听；第三条 — 给法务 / 合规听。收尾句：你已经有产品、有数据、有医生 — 我们做的是把它们装配成可审计的 AI 资产。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议程快扫一遍。重点提示：AI 产品矩阵 8 张 + 三类客户价值映射 — 这两段最长。如果对方对某节特别感兴趣，可以直接跳过去。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四个数字慢念。重点停在 72% — 覆盖谁决定了商业天花板。核心一句：我们的医师网络不是 5.1M 路人甲，是经过认证、覆盖中国 72% 高级医师的核心群体。数据口径一句话带过 — 2025 年年报，IR 已披露。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时间轴扫一遍，重点两个节点：2023 港股上市（信任锚）+ 2025+ AI 升级（节奏锚）。一句：我们已经走完从 SaaS 到 AI 原生的第一年迁移，现在进入第二年的全球化兑现期。其他年份扫过即可。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 04 + 05 的组合 — 这决定了我们不是内容公司，是 数据 + AI + 医师协同 的医学专业服务集团。其他四项告诉对方：这些都是底层能力，需要时随时可调用。1 分钟以内。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关键句：AI 产品不是空中楼阁 — 都建在前两层之上。三层扫过 30 秒。过渡到下一段：接下来 4 张，逐个看四个 AI 产品。如果对方质疑 AI 数据来源 — 直接指 Layer 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投资人语境 — 让对方用尽调读法看。开场：投资人怎么看公司？资产负债表。我们用同样格式陈列。重点强调最底下一行 审计基础设施 · 可导出 — 这是其他 AI 公司没有的。上面两行的数字快扫，不要逐个念。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DeepEvidence 与 MedXY 是同一个临床循证 AI 引擎的两个市场分支 · DeepEvidence 服务中国床旁场景 · MedXY 服务出海与跨国团队。关键钩子：诊断 → 下一步动作的桥接 · 不只是问答机器人。两条线共享一套审计基础设施和 MD 签字流程。如果对方关心海外业务 — 重点讲 MedXY。如果是国内医学事务 — 重点讲 DeepEvidence。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RCP 是 BD 最容易销售的入门产品 · 因为周期短 / 单价合适 / 可重复采购。关键钩子：你们的医学市调通常要几周 — RCP 把这件事压到几天。VGI™ 评分校准 是关键差异化 — 不是泛流量样本，而是经过医师网络真实行为校准的医生池。对 AI 公司客户尤其重要：医生标注 + 评测正是大模型公司最缺的数据闭环。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六步研究生命周期快扫，10 秒。重点放在底部三类客户价值。一句：你们手上应该已经有大量中文文献和 RWE — 如果想被 FDA / 海外 payer 看到，需要按他们的结构重新组织。SeekEvidence 就是这个翻译器。如果对方问 IIT 设计能不能做 — 答可以，会后给细节。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诚实标注 · 不假装成熟。必须主动说：DeepInsight 当前是 In Development 状态。这建立诚信。但要让对方看到下一步：未来你们卖出每一台设备 / 每一盒药，我们都能告诉你处方在哪里发生、采购信号在哪个 IDN。不要主动谈具体上线时间。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关键防御页 · 必须背下来。这是回应 AI 是不是 chatbot 的杀手锏。关键句要慢、要清楚：AI 提速、MD 签字、审计日志兜底 — 这就是为什么我们的产物可以放进 FDA 提交包，而不是用来做营销信息图。句号、停顿。如果对方质疑 AI 准确度 — 直接指 PITL 第 3、4 步：每一段都有命名 MD 签字。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如果对方有 CTO / IT 负责人在场 — 这一页多停留 1 分钟。如果是纯 BD / 医学背景 — 30 秒带过。关键句：通过 API 集成，销售随时调用 MD 签字的产品答案 — 不是市场部写的销售话术。AI 技能那一段：如果你们美国 / 海外 MSL 还没建起来，AI 技能就是替代的第一道方案。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整场最重要一张 · 慢、慢、慢。横向给对方看 — 同一套 AI 矩阵，三个行业各自的痛点和切入点。让对方在自己所在的列里找认同感。如果对方是药企 — 重点讲第二列；医械 / IVD 同理。如果对方反驳某一格 — 那说明这一格不是他们的痛点，跳过去聊下一格。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这个案例对药企客户必须慢讲。关键钩子：医生愿意来参加，不是因为你品牌大，是因为他们能借这个机会发论文、对接编辑、找到 IIT 机会。这就是 publication networking — 医师未被满足的核心需求。期刊主导 ≠ 企业主导 — 合规性 + 学术权威性都对了。客户名按已披露范围引用。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重磅证据 · 谨慎用客户名。19,000+ 样本要慢念，让数字落地。关键句：同样的能力，我们已经为跨国 IVD 龙头在中国部署过 — 这套能力可以为你们的下一个项目部署。客户名按已披露范围引用。如果对方追问细节 — 引导到 会后法务核实，可以提供论文 acknowledgment 出处。不要承诺 19,000+ 这个量能在任何场景复制。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整场最重要一张 · 慢、慢、慢。一条一条念。每条停顿 5 秒以上，让对方反驳或点头。如果对方反驳第 ① 条 — 那说明他们的临床信任比我们以为的强，跳过 KOL 圆桌建议，直接谈渠道。如果对方反驳第 ③ 条 — 那说明医学执行已经在位，可以聊更深层的产品定位。重点：告诉我们哪里说错了。 这句要主动说出来。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关键收口 · 给对方台阶。不要逼对方现在签约。三层入口任挑。关键句：不需要现在签大合同 — 从 L1 / L2 任一档开始，三周内你就能判断我们值不值得继续谈。价格档位主站可查 — 透明定价是信任锚。如果对方问 L1 大概多少钱 — 给一个范围，告诉对方主站有具体价。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如果对方有法务 / 合规 / IT 在场 — 让他们扫一眼 ISO 27001 / GDPR / HIPAA。没有法务在场 — 10 秒带过。这一页不主动展开，等对方问。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信任锚 · 自信收尾。关键句：今天讲的所有内容你都不用相信。打开网站，五分钟做判断。 这句要稳，不要笑场。让对方扫描 deeplink 表，告诉他们 — 这就是我们对外尽调透明度的态度。不要主动谈 竞品是不是也有官网。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商业对话的结束动作 · 让对方选。三个选项让对方挑，不主动推荐任何一个。关键句：接下来想怎么走 — 你来选。 然后等对方说话。如果选 01 — 给 BD 邮箱 + 时间窗。如果选 02 — 当场确认产品线 / 联系人。如果选 03 — 给两个时间窗。不要在这一页主动谈合同。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备询页 · 不主动讲。除非对方问 你们国内市场推广有什么能力 才拉出。一句过渡：我们国内市场推广有一整套模块 — 这是 APO 商业化轮。如果未来你们的中国业务需要营销加速，这套可以直接复用。30 秒以内，不展开。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A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037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457200" cy="54864"/>
          </a:xfrm>
          <a:prstGeom prst="rect">
            <a:avLst/>
          </a:prstGeom>
          <a:solidFill>
            <a:srgbClr val="00AE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MEDSCI HEALTHCARE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AED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梅斯健康  ·  AI 产品矩阵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让医学证据  ·  接入  AI  ·  并由医生签字。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FB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AI for Pharma · MedTech · IVD.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029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AI-Enabled. Physician-Verified. Globally Ready.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8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 驱动  ·  医生把关  ·  全球就绪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8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梅斯健康集团  ·  2415.HK  ·  medscihealthcare.com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OPENING  ·  开场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146304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55664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梅斯健康集团  ·  2415.HK  ·  medscihealthcare.com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59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AI-Enabled. Physician-Verified. Globally Ready.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SOLVE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三大行业  ·  同一个结构性问题。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药企、医疗器械、IVD 在 AI 落地上反复卡住的三道关 — 而不是 AI 本身的技术问题。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3566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731520" y="2880360"/>
            <a:ext cx="411480" cy="36576"/>
          </a:xfrm>
          <a:prstGeom prst="rect">
            <a:avLst/>
          </a:prstGeom>
          <a:solidFill>
            <a:srgbClr val="001A5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175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输出 ≠ 可用证据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411480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大模型回答没有来源、没有时间戳、没有医生审阅 — 无法进入医学事务、监管或销售场景。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51960" y="2194560"/>
            <a:ext cx="3566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526280" y="2880360"/>
            <a:ext cx="411480" cy="36576"/>
          </a:xfrm>
          <a:prstGeom prst="rect">
            <a:avLst/>
          </a:prstGeom>
          <a:solidFill>
            <a:srgbClr val="001A51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30175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证据  ↔  受众  脱节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26280" y="411480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中国 RWE / SCI 论文 + 海外 KOL 不识别你的品牌 + 销售物料缺 MD 签字 — 三道结构性缺口。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2194560"/>
            <a:ext cx="3566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8321040" y="2880360"/>
            <a:ext cx="411480" cy="36576"/>
          </a:xfrm>
          <a:prstGeom prst="rect">
            <a:avLst/>
          </a:prstGeom>
          <a:solidFill>
            <a:srgbClr val="001A51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30175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FDA 对 RWE 接受度提升 — 但要可审计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321040" y="411480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2026 年 FDA / NMPA 对真实世界证据的接受度提升，前提是来源 + 审阅人 + 时间戳全程可追溯。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59893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你已经有产品、有数据、有医生 — 我们做的是把它们装配成可审计的 AI 资产。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CONTENTS  ·  议程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146304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55664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梅斯健康集团  ·  2415.HK  ·  medscihealthcare.com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59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AI-Enabled. Physician-Verified. Globally Ready.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今天我们聊什么。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重点在第 04 块（AI 产品矩阵）+ 第 06 块（三类客户价值映射）。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2402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240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公司概览  ·  About MedSci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3 张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697480"/>
            <a:ext cx="10698480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889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2788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 产品矩阵  ·  四大产品 + 底层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8 张  ·  重点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246120"/>
            <a:ext cx="10698480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3375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33375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信任机制  ·  PITL 医生在环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 张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3794760"/>
            <a:ext cx="10698480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886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3886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三类客户价值映射  ·  药企 / 医械 / IVD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12480" y="3886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 张  ·  重点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4343400"/>
            <a:ext cx="10698480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4348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63040" y="44348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案例  ·  Pharma + IVD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412480" y="4434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 张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4892040"/>
            <a:ext cx="10698480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983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63040" y="4983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合作路径  ·  L1 / L2 / L3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12480" y="4983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3 张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1520" y="5440680"/>
            <a:ext cx="10698480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5532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63040" y="5532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412480" y="5532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 张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1520" y="5989320"/>
            <a:ext cx="10698480" cy="10973"/>
          </a:xfrm>
          <a:prstGeom prst="rect">
            <a:avLst/>
          </a:prstGeom>
          <a:solidFill>
            <a:srgbClr val="E5EAF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01  ·  ABOUT MEDSCI  ·  公司概览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146304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55664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梅斯健康集团  ·  2415.HK  ·  medscihealthcare.com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59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AI-Enabled. Physician-Verified. Globally Ready.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AT A GLANCE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中国领先的医师与医学智能平台。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港股上市（2415.HK）· 通过医学内容、数据、AI 与数字化解决方案连接医生、研究者、医院与生命科学企业。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265176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6032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5.1M</a:t>
            </a:r>
            <a:endParaRPr lang="en-US" sz="52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365760" cy="36576"/>
          </a:xfrm>
          <a:prstGeom prst="rect">
            <a:avLst/>
          </a:prstGeom>
          <a:solidFill>
            <a:srgbClr val="00AED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注册会员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members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2286000"/>
            <a:ext cx="265176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56032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3.3M</a:t>
            </a:r>
            <a:endParaRPr lang="en-US" sz="5200" dirty="0"/>
          </a:p>
        </p:txBody>
      </p:sp>
      <p:sp>
        <p:nvSpPr>
          <p:cNvPr id="18" name="Shape 16"/>
          <p:cNvSpPr/>
          <p:nvPr/>
        </p:nvSpPr>
        <p:spPr>
          <a:xfrm>
            <a:off x="3566160" y="4114800"/>
            <a:ext cx="365760" cy="36576"/>
          </a:xfrm>
          <a:prstGeom prst="rect">
            <a:avLst/>
          </a:prstGeom>
          <a:solidFill>
            <a:srgbClr val="00AEDB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认证医师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66160" y="4663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doctors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2286000"/>
            <a:ext cx="265176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56032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2.9M</a:t>
            </a:r>
            <a:endParaRPr lang="en-US" sz="52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365760" cy="36576"/>
          </a:xfrm>
          <a:prstGeom prst="rect">
            <a:avLst/>
          </a:prstGeom>
          <a:solidFill>
            <a:srgbClr val="00AED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月活跃用户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0" y="4663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users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61120" y="2286000"/>
            <a:ext cx="265176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256032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5200" dirty="0"/>
          </a:p>
        </p:txBody>
      </p:sp>
      <p:sp>
        <p:nvSpPr>
          <p:cNvPr id="28" name="Shape 26"/>
          <p:cNvSpPr/>
          <p:nvPr/>
        </p:nvSpPr>
        <p:spPr>
          <a:xfrm>
            <a:off x="9235440" y="4114800"/>
            <a:ext cx="365760" cy="36576"/>
          </a:xfrm>
          <a:prstGeom prst="rect">
            <a:avLst/>
          </a:prstGeom>
          <a:solidFill>
            <a:srgbClr val="00AEDB"/>
          </a:solidFill>
          <a:ln/>
        </p:spPr>
      </p:sp>
      <p:sp>
        <p:nvSpPr>
          <p:cNvPr id="29" name="Text 27"/>
          <p:cNvSpPr/>
          <p:nvPr/>
        </p:nvSpPr>
        <p:spPr>
          <a:xfrm>
            <a:off x="9235440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高级医师覆盖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235440" y="4663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doctors coverage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58521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数据口径 · 2025 年年报。Verified ✓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01  ·  ABOUT MEDSCI  ·  公司概览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146304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55664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梅斯健康集团  ·  2415.HK  ·  medscihealthcare.com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59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AI-Enabled. Physician-Verified. Globally Ready.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从医学平台到 AI 原生医疗集团。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2025+ 是我们的 AI 转型与全球化拐点。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10908792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1417320" y="3904488"/>
            <a:ext cx="274320" cy="274320"/>
          </a:xfrm>
          <a:prstGeom prst="ellipse">
            <a:avLst/>
          </a:prstGeom>
          <a:solidFill>
            <a:srgbClr val="001A5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1A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43891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梅斯创立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平台上线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3904488"/>
            <a:ext cx="274320" cy="274320"/>
          </a:xfrm>
          <a:prstGeom prst="ellipse">
            <a:avLst/>
          </a:prstGeom>
          <a:solidFill>
            <a:srgbClr val="001A5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1A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14600" y="43891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全渠道营销服务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66360" y="3904488"/>
            <a:ext cx="274320" cy="274320"/>
          </a:xfrm>
          <a:prstGeom prst="ellipse">
            <a:avLst/>
          </a:prstGeom>
          <a:solidFill>
            <a:srgbClr val="001A5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1A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389120" y="43891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RWS 真实世界研究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40880" y="3904488"/>
            <a:ext cx="274320" cy="274320"/>
          </a:xfrm>
          <a:prstGeom prst="ellipse">
            <a:avLst/>
          </a:prstGeom>
          <a:solidFill>
            <a:srgbClr val="001A5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1A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63640" y="43891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 轮  ·  腾讯领投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15400" y="3904488"/>
            <a:ext cx="274320" cy="274320"/>
          </a:xfrm>
          <a:prstGeom prst="ellipse">
            <a:avLst/>
          </a:prstGeom>
          <a:solidFill>
            <a:srgbClr val="001A5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1A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138160" y="43891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港交所上市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2415.HK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789920" y="3904488"/>
            <a:ext cx="274320" cy="274320"/>
          </a:xfrm>
          <a:prstGeom prst="ellipse">
            <a:avLst/>
          </a:prstGeom>
          <a:solidFill>
            <a:srgbClr val="00AED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1268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2025+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12680" y="43891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 升级 · DeepEvidence/MedXY · SeekEvidence · RCP · 全球化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59436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我们已经走完从 SaaS 到 AI 原生的第一年迁移 — 现在进入第二年的全球化兑现期。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01  ·  ABOUT MEDSCI  ·  公司概览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146304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55664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梅斯健康集团  ·  2415.HK  ·  medscihealthcare.com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59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AI-Enabled. Physician-Verified. Globally Ready.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ASSETS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六大核心资产  ·  支撑 AI 产品矩阵的底层。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 不是空中楼阁  ·  全部建在已有的资产之上。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35661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68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788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医师网络平台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大规模医师触达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51960" y="2286000"/>
            <a:ext cx="35661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2468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26280" y="2788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医学内容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26280" y="32461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循证学术内容生产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2286000"/>
            <a:ext cx="35661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468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21040" y="2788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专家网络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21040" y="32461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覆盖主要治疗领域的 KOL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35661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389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7091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医师画像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31520" y="5166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行为 / 专科 / 偏好洞察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51960" y="4206240"/>
            <a:ext cx="35661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4389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26280" y="47091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与数据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526280" y="5166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医学智能与底层基础设施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0" y="4206240"/>
            <a:ext cx="35661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4389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21040" y="47091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合规交付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321040" y="5166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企业级安全与可追溯执行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第 04 + 05 项的组合 — 决定了我们不是内容公司，而是 数据 + AI + 医师协同 的医学专业服务集团。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02  ·  AI 产品矩阵  ·  总览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146304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55664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梅斯健康集团  ·  2415.HK  ·  medscihealthcare.com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59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AI-Enabled. Physician-Verified. Globally Ready.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ECOSYSTEM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从医师平台到医学 AI 生态系统。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三层架构  ·  AI 产品建在医师网络 + 数据证据层之上。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112745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 ·  AI 智能层</a:t>
            </a:r>
            <a:endParaRPr lang="en-US" sz="1000" dirty="0"/>
          </a:p>
        </p:txBody>
      </p:sp>
      <p:pic>
        <p:nvPicPr>
          <p:cNvPr id="13" name="Image 0" descr="logos/wordmark-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606040"/>
            <a:ext cx="22860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" y="3154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临床循证 AI  ·  CN + 国际多语言</a:t>
            </a:r>
            <a:endParaRPr lang="en-US" sz="1100" dirty="0"/>
          </a:p>
        </p:txBody>
      </p:sp>
      <p:pic>
        <p:nvPicPr>
          <p:cNvPr id="15" name="Image 1" descr="logos/wordmark-s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83280" y="2606040"/>
            <a:ext cx="22860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83280" y="3154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 辅助临床研究</a:t>
            </a:r>
            <a:endParaRPr lang="en-US" sz="1100" dirty="0"/>
          </a:p>
        </p:txBody>
      </p:sp>
      <p:pic>
        <p:nvPicPr>
          <p:cNvPr id="17" name="Image 2" descr="logos/wordmark-di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0" y="2606040"/>
            <a:ext cx="22860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6480" y="3154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企业医学洞察</a:t>
            </a:r>
            <a:endParaRPr lang="en-US" sz="1100" dirty="0"/>
          </a:p>
        </p:txBody>
      </p:sp>
      <p:pic>
        <p:nvPicPr>
          <p:cNvPr id="19" name="Image 3" descr="logos/wordmark-rcp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869680" y="2606040"/>
            <a:ext cx="22860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69680" y="3154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敏捷验证实验室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3611880"/>
            <a:ext cx="11274552" cy="1234440"/>
          </a:xfrm>
          <a:prstGeom prst="rect">
            <a:avLst/>
          </a:prstGeom>
          <a:solidFill>
            <a:srgbClr val="E4F2FC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4008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1A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·  数据与证据层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40080" y="4069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行为数据  ·  Engagement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3383280" y="4069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医学文献  ·  250M+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126480" y="4069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临床指南  ·  Consensus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869680" y="4069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企业知识  ·  Proprietary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57200" y="5029200"/>
            <a:ext cx="11274552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40080" y="5120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·  医师网络平台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40080" y="5486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医生  ·  3.3M 认证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3383280" y="5486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内容  ·  循证学术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126480" y="5486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社群  ·  专业网络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8869680" y="5486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KOL  ·  25K+ 三甲专家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02  ·  AI 产品矩阵  ·  底层资产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146304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55664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梅斯健康集团  ·  2415.HK  ·  medscihealthcare.com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59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AI-Enabled. Physician-Verified. Globally Ready.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ASSET BALANCE SHEET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资产负债表  ·  尽调团队读法。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投资人怎么看公司？资产负债表。我们用同样格式陈列 AI 资产。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11274552" cy="457200"/>
          </a:xfrm>
          <a:prstGeom prst="rect">
            <a:avLst/>
          </a:prstGeom>
          <a:solidFill>
            <a:srgbClr val="001A5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286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类别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54680" y="228600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资产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26680" y="2286000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规模  ·  2025 年年报口径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11274552" cy="7772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7432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医师网络资产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54680" y="27432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认证医师  ·  三甲 KOL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26680" y="2743200"/>
            <a:ext cx="4005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3.3M+   ·   25K+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52044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知识库资产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54680" y="35204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结构化文献索引  ·  全球药品标签（SPL）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26680" y="3520440"/>
            <a:ext cx="4005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250M+   ·   100K+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11274552" cy="7772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2976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B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审计基础设施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154680" y="429768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8B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ProofPoint 凭证库  ·  PITL 审计日志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26680" y="4297680"/>
            <a:ext cx="4005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项目级全量可导出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我们不创造医学知识  ·  我们把医生与监管已经认证过的知识  ·  索引、结构化、路由  ·  并配上一个签字的医生。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02  ·  AI 产品矩阵  ·  DeepEvidence / MedXY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146304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55664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梅斯健康集团  ·  2415.HK  ·  medscihealthcare.com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59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AI-Enabled. Physician-Verified. Globally Ready.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EVIDENCE AI  ·  PRODUCT FAMILY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临床循证 AI 系列  ·  CN  +  Global。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同一引擎  ·  两条市场分支  ·  把诊断与决策衔接到指南 / FDA SPL / RCT。</a:t>
            </a:r>
            <a:endParaRPr lang="en-US" sz="1400" dirty="0"/>
          </a:p>
        </p:txBody>
      </p:sp>
      <p:pic>
        <p:nvPicPr>
          <p:cNvPr id="11" name="Image 0" descr="logos/wordmark-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0" y="868680"/>
            <a:ext cx="3017520" cy="5943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solidFill>
            <a:srgbClr val="E4F2FC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1A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共享引擎  ·  SHARED ENGINE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5800" y="2606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指南 + 文献锚定  ·  低置信自标  ·  MD 签字  ·  审计日志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3246120"/>
            <a:ext cx="54864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3246120"/>
            <a:ext cx="5486400" cy="502920"/>
          </a:xfrm>
          <a:prstGeom prst="rect">
            <a:avLst/>
          </a:prstGeom>
          <a:solidFill>
            <a:srgbClr val="001A51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3246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DeepEvidence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114800" y="3246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00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中国市场  ·  CN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" y="3886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床旁循证临床问答  ·  覆盖国家指南、专家共识、医保目录。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85800" y="4343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国家临床指南 + 共识 + RCT 锚定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85800" y="4800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覆盖鉴别诊断  ·  治疗路径  ·  剂量调整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85800" y="5257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诊断结果 → 下一步动作的实时桥接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85800" y="57150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已在 4 家三甲医院床旁部署  ·  Verified ✓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17920" y="3246120"/>
            <a:ext cx="54864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17920" y="3246120"/>
            <a:ext cx="5486400" cy="502920"/>
          </a:xfrm>
          <a:prstGeom prst="rect">
            <a:avLst/>
          </a:prstGeom>
          <a:solidFill>
            <a:srgbClr val="0088B0"/>
          </a:solidFill>
          <a:ln/>
        </p:spPr>
      </p:sp>
      <p:sp>
        <p:nvSpPr>
          <p:cNvPr id="26" name="Text 23"/>
          <p:cNvSpPr/>
          <p:nvPr/>
        </p:nvSpPr>
        <p:spPr>
          <a:xfrm>
            <a:off x="6446520" y="3246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MedXY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875520" y="3246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国际市场  ·  GLOBAL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46520" y="3886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多语言医学 AI 入口  ·  连接 FDA SPL、NCCN、EMA 知识源。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446520" y="4343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FDA SPL / NCCN / EMA / WHO 知识统一入口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46520" y="4800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EN ↔ CN 双语交付  ·  内建翻译核对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446520" y="5257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个人工作台 + 企业知识库  ·  多语言切换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446520" y="57150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适配出海团队 + 跨国 MSL  ·  In Development ◐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02  ·  AI 产品矩阵  ·  RCP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146304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55664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梅斯健康集团  ·  2415.HK  ·  medscihealthcare.com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59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AI-Enabled. Physician-Verified. Globally Ready.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CLINIC PULSE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敏捷验证实验室  ·  按需触达医生。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把高价值医学任务从  几周  压缩到  几天  ·  VGI™ 评分校准的医生池。</a:t>
            </a:r>
            <a:endParaRPr lang="en-US" sz="1400" dirty="0"/>
          </a:p>
        </p:txBody>
      </p:sp>
      <p:pic>
        <p:nvPicPr>
          <p:cNvPr id="11" name="Image 0" descr="logos/wordmark-rc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84080" y="868680"/>
            <a:ext cx="192024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类任务模板  ·  TASK TEMPLATES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5146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606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2880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定性访谈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40080" y="3337560"/>
            <a:ext cx="274320" cy="36576"/>
          </a:xfrm>
          <a:prstGeom prst="rect">
            <a:avLst/>
          </a:prstGeom>
          <a:solidFill>
            <a:srgbClr val="00AEDB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474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1-on-1 深访  ·  小组焦点  ·  KOL 立场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91840" y="25146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0" y="2606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474720" y="2880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定量调研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3474720" y="3337560"/>
            <a:ext cx="274320" cy="36576"/>
          </a:xfrm>
          <a:prstGeom prst="rect">
            <a:avLst/>
          </a:prstGeom>
          <a:solidFill>
            <a:srgbClr val="00AEDB"/>
          </a:solidFill>
          <a:ln/>
        </p:spPr>
      </p:sp>
      <p:sp>
        <p:nvSpPr>
          <p:cNvPr id="22" name="Text 19"/>
          <p:cNvSpPr/>
          <p:nvPr/>
        </p:nvSpPr>
        <p:spPr>
          <a:xfrm>
            <a:off x="3474720" y="3474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结构化问卷  ·  N=100+ 在数日内完成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126480" y="25146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9360" y="2606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309360" y="2880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内容审阅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6309360" y="3337560"/>
            <a:ext cx="274320" cy="36576"/>
          </a:xfrm>
          <a:prstGeom prst="rect">
            <a:avLst/>
          </a:prstGeom>
          <a:solidFill>
            <a:srgbClr val="00AEDB"/>
          </a:solidFill>
          <a:ln/>
        </p:spPr>
      </p:sp>
      <p:sp>
        <p:nvSpPr>
          <p:cNvPr id="27" name="Text 24"/>
          <p:cNvSpPr/>
          <p:nvPr/>
        </p:nvSpPr>
        <p:spPr>
          <a:xfrm>
            <a:off x="6309360" y="3474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学术材料  ·  销售物料  ·  科普稿件复核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961120" y="25146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0" y="2606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144000" y="2880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概念验证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9144000" y="3337560"/>
            <a:ext cx="274320" cy="36576"/>
          </a:xfrm>
          <a:prstGeom prst="rect">
            <a:avLst/>
          </a:prstGeom>
          <a:solidFill>
            <a:srgbClr val="00AEDB"/>
          </a:solidFill>
          <a:ln/>
        </p:spPr>
      </p:sp>
      <p:sp>
        <p:nvSpPr>
          <p:cNvPr id="32" name="Text 29"/>
          <p:cNvSpPr/>
          <p:nvPr/>
        </p:nvSpPr>
        <p:spPr>
          <a:xfrm>
            <a:off x="9144000" y="3474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产品概念  ·  价值主张  ·  消息测试 PoC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57200" y="4434840"/>
            <a:ext cx="5486400" cy="1874520"/>
          </a:xfrm>
          <a:prstGeom prst="rect">
            <a:avLst/>
          </a:prstGeom>
          <a:solidFill>
            <a:srgbClr val="001A51"/>
          </a:solidFill>
          <a:ln/>
        </p:spPr>
      </p:sp>
      <p:sp>
        <p:nvSpPr>
          <p:cNvPr id="34" name="Text 31"/>
          <p:cNvSpPr/>
          <p:nvPr/>
        </p:nvSpPr>
        <p:spPr>
          <a:xfrm>
            <a:off x="68580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核心能力  ·  HOW IT WORKS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85800" y="4892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VGI™ 评分校准的医生池筛选  ·  非泛流量样本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85800" y="5303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结构化反馈  +  原始数据导出  ·  全程可追溯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85800" y="5715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按需触达  ·  数日响应  ·  替代传统市调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217920" y="4434840"/>
            <a:ext cx="5486400" cy="1874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465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目标受众  ·  AUDIENCE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446520" y="4892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8B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药企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8046720" y="4892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概念测试  ·  消息验证  ·  上市后反馈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446520" y="5303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8B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CRO  ·  咨询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046720" y="5303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可行性扫描  ·  KOL 立场盘点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6446520" y="5715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8B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 公司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8046720" y="5715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模型反馈循环  ·  医生标注与评测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02  ·  AI 产品矩阵  ·  SeekEvidence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146304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55664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梅斯健康集团  ·  2415.HK  ·  medscihealthcare.com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59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AI-Enabled. Physician-Verified. Globally Ready.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辅助临床研究全生命周期。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把临床想法转化为结构化、可发表的研究。</a:t>
            </a:r>
            <a:endParaRPr lang="en-US" sz="1400" dirty="0"/>
          </a:p>
        </p:txBody>
      </p:sp>
      <p:pic>
        <p:nvPicPr>
          <p:cNvPr id="11" name="Image 0" descr="logos/wordmark-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0" y="868680"/>
            <a:ext cx="3017520" cy="5943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" y="2194560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3317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32588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研究问题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325880" y="2743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明确临床问题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251960" y="2194560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80560" y="23317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12064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文献综述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5120640" y="2743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 检索与综合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046720" y="2194560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75320" y="23317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91540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方案设计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8915400" y="2743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起草研究方案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566160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" y="3703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32588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统计分析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1325880" y="4114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分析规划与解读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251960" y="3566160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80560" y="3703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12064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稿件撰写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5120640" y="4114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起草与精修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046720" y="3566160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75320" y="3703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91540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投稿材料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>
            <a:off x="8915400" y="4114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图表与投稿包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457200" y="5074920"/>
            <a:ext cx="11274552" cy="1280160"/>
          </a:xfrm>
          <a:prstGeom prst="rect">
            <a:avLst/>
          </a:prstGeom>
          <a:solidFill>
            <a:srgbClr val="E4F2FC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5800" y="5212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1A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三类客户的具体价值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85800" y="5532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8B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药企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417320" y="5532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上市后 IIT 研究设计 + 自动文献综述。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343400" y="5532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8B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医械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074920" y="5532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临床注册研究的方案 + 统计计划自动生成。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8001000" y="5532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8B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IVD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732520" y="5532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China RWE → FDA / Payer 可读的结构化数据包。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02  ·  AI 产品矩阵  ·  DeepInsight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146304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55664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梅斯健康集团  ·  2415.HK  ·  medscihealthcare.com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59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AI-Enabled. Physician-Verified. Globally Ready.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INTELLIGENCE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企业医学洞察平台。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把医生行为与企业知识转化为战略级智能  ·  In Development ◐</a:t>
            </a:r>
            <a:endParaRPr lang="en-US" sz="1400" dirty="0"/>
          </a:p>
        </p:txBody>
      </p:sp>
      <p:pic>
        <p:nvPicPr>
          <p:cNvPr id="11" name="Image 0" descr="logos/wordmark-d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0" y="868680"/>
            <a:ext cx="3017520" cy="5943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 ·  数据输入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606040"/>
            <a:ext cx="365760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606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医师画像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108960"/>
            <a:ext cx="365760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108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高潜力 HCP / KOL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611880"/>
            <a:ext cx="365760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36118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产品反馈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114800"/>
            <a:ext cx="365760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4114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企业知识中心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617720"/>
            <a:ext cx="365760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4617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市场与疾病洞察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5120640"/>
            <a:ext cx="365760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5120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团队 AI 技能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389120" y="3200400"/>
            <a:ext cx="3383280" cy="2103120"/>
          </a:xfrm>
          <a:prstGeom prst="rect">
            <a:avLst/>
          </a:prstGeom>
          <a:solidFill>
            <a:srgbClr val="001A51"/>
          </a:solidFill>
          <a:ln/>
        </p:spPr>
      </p:sp>
      <p:sp>
        <p:nvSpPr>
          <p:cNvPr id="26" name="Text 23"/>
          <p:cNvSpPr/>
          <p:nvPr/>
        </p:nvSpPr>
        <p:spPr>
          <a:xfrm>
            <a:off x="4389120" y="33375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DeepInsight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4389120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AED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数据 → 洞察 → 行动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389120" y="4114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AED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的闭环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389120" y="4800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 ◐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04672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 ·  决策支持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046720" y="2606040"/>
            <a:ext cx="3657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29600" y="2651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医学策略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8229600" y="29535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证据路径 + 定位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046720" y="3383280"/>
            <a:ext cx="3657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29600" y="3429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市场规划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8229600" y="37307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渠道组合 + 内容策略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046720" y="4160520"/>
            <a:ext cx="3657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229600" y="4206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MSL 互动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8229600" y="45079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精准 KOL 对话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8046720" y="4937760"/>
            <a:ext cx="3657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229600" y="4983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销售支持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8229600" y="52852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处方信号 + 采购信号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4114800" y="3200400"/>
            <a:ext cx="274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5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44" name="Text 41"/>
          <p:cNvSpPr/>
          <p:nvPr/>
        </p:nvSpPr>
        <p:spPr>
          <a:xfrm>
            <a:off x="7772400" y="3200400"/>
            <a:ext cx="274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5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45" name="Text 42"/>
          <p:cNvSpPr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诚实标注  ·  DeepInsight 当前为 In Development 状态。上线路线图可在 NDA 后单独沟通。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03  ·  信任机制  ·  PITL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146304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55664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梅斯健康集团  ·  2415.HK  ·  medscihealthcare.com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59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AI-Enabled. Physician-Verified. Globally Ready.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PHYSICIAN-IN-THE-LOOP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医生在环  ·  为什么我们的产物能进 FDA 提交包。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 提速  ·  医生签字  ·  审计日志让两边都诚实。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94560"/>
            <a:ext cx="2651760" cy="502920"/>
          </a:xfrm>
          <a:prstGeom prst="rect">
            <a:avLst/>
          </a:prstGeom>
          <a:solidFill>
            <a:srgbClr val="001A51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2402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240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数据摄取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2834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1089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源数据抽取  ·  实体与主张打标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3977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42519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可信范围确认  ·  标记需回溯主张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5212080"/>
            <a:ext cx="2377440" cy="36576"/>
          </a:xfrm>
          <a:prstGeom prst="rect">
            <a:avLst/>
          </a:prstGeom>
          <a:solidFill>
            <a:srgbClr val="00AEDB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5349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088B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→ 标注语料库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219456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2194560"/>
            <a:ext cx="2651760" cy="502920"/>
          </a:xfrm>
          <a:prstGeom prst="rect">
            <a:avLst/>
          </a:prstGeom>
          <a:solidFill>
            <a:srgbClr val="001A51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22402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2240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缺口分析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29000" y="2834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29000" y="31089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对照监管/支付方标准映射  ·  识别缺口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29000" y="3977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29000" y="42519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确认缺口分类  ·  拒绝漏掉医学语境的 AI 输出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29000" y="5212080"/>
            <a:ext cx="2377440" cy="36576"/>
          </a:xfrm>
          <a:prstGeom prst="rect">
            <a:avLst/>
          </a:prstGeom>
          <a:solidFill>
            <a:srgbClr val="00AEDB"/>
          </a:solidFill>
          <a:ln/>
        </p:spPr>
      </p:sp>
      <p:sp>
        <p:nvSpPr>
          <p:cNvPr id="30" name="Text 28"/>
          <p:cNvSpPr/>
          <p:nvPr/>
        </p:nvSpPr>
        <p:spPr>
          <a:xfrm>
            <a:off x="3429000" y="5349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088B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→ 缺口报告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219456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2194560"/>
            <a:ext cx="2651760" cy="502920"/>
          </a:xfrm>
          <a:prstGeom prst="rect">
            <a:avLst/>
          </a:prstGeom>
          <a:solidFill>
            <a:srgbClr val="001A51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22402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66560" y="2240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PITL 审阅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63640" y="2834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63640" y="31089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合成草稿  ·  自标低置信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63640" y="3977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42519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首席审阅者逐节签字  ·  命名 MD 上署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63640" y="5212080"/>
            <a:ext cx="2377440" cy="36576"/>
          </a:xfrm>
          <a:prstGeom prst="rect">
            <a:avLst/>
          </a:prstGeom>
          <a:solidFill>
            <a:srgbClr val="00AEDB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5349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088B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→ 签字草稿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961120" y="219456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61120" y="2194560"/>
            <a:ext cx="2651760" cy="502920"/>
          </a:xfrm>
          <a:prstGeom prst="rect">
            <a:avLst/>
          </a:prstGeom>
          <a:solidFill>
            <a:srgbClr val="001A51"/>
          </a:solidFill>
          <a:ln/>
        </p:spPr>
      </p:sp>
      <p:sp>
        <p:nvSpPr>
          <p:cNvPr id="43" name="Text 41"/>
          <p:cNvSpPr/>
          <p:nvPr/>
        </p:nvSpPr>
        <p:spPr>
          <a:xfrm>
            <a:off x="9098280" y="22402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601200" y="2240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交付物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098280" y="2834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098280" y="31089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格式化  ·  双语版本  ·  审计日志打包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098280" y="3977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098280" y="42519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最终 QA + 签收  ·  带命名负责人交付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098280" y="5212080"/>
            <a:ext cx="2377440" cy="36576"/>
          </a:xfrm>
          <a:prstGeom prst="rect">
            <a:avLst/>
          </a:prstGeom>
          <a:solidFill>
            <a:srgbClr val="00AEDB"/>
          </a:solidFill>
          <a:ln/>
        </p:spPr>
      </p:sp>
      <p:sp>
        <p:nvSpPr>
          <p:cNvPr id="50" name="Text 48"/>
          <p:cNvSpPr/>
          <p:nvPr/>
        </p:nvSpPr>
        <p:spPr>
          <a:xfrm>
            <a:off x="9098280" y="5349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088B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→ 审计级交付包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每份交付物 = 命名 MD 审阅人 + 完整审计日志  ·  这是为什么我们的产物可以进 FDA / NMPA 提交包  ·  而不是用来做营销信息图。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02  ·  AI 产品矩阵  ·  企业集成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146304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55664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梅斯健康集团  ·  2415.HK  ·  medscihealthcare.com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59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AI-Enabled. Physician-Verified. Globally Ready.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API &amp; SAAS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/ SaaS  +  AI 角色技能。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在你们现有系统中部署  ·  不要求迁移  ·  不要求重建。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347472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企业系统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官网 / Web 门户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9443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移动应用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2369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CRM / SCRM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5295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医学门户 / 内部 KB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2194560"/>
            <a:ext cx="3611880" cy="1828800"/>
          </a:xfrm>
          <a:prstGeom prst="rect">
            <a:avLst/>
          </a:prstGeom>
          <a:solidFill>
            <a:srgbClr val="001A51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2331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MEDSCI AI API 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LLM + 医学知识引擎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29443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RAG + 知识检索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32369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安全与合规控制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35295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模型编排与工具链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75320" y="2194560"/>
            <a:ext cx="3456432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 AI 应用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5820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医学 Q&amp;A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58200" y="29443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产品知识助手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58200" y="32369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HCP 服务助手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58200" y="35295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内部培训副驾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31920" y="2194560"/>
            <a:ext cx="365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5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909560" y="2194560"/>
            <a:ext cx="365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5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57200" y="4251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角色技能  ·  ENTERPRISE SKILLS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663440"/>
            <a:ext cx="2103120" cy="548640"/>
          </a:xfrm>
          <a:prstGeom prst="rect">
            <a:avLst/>
          </a:prstGeom>
          <a:solidFill>
            <a:srgbClr val="E4F2FC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663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MSL  ·  医学科学互动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0" y="4663440"/>
            <a:ext cx="2103120" cy="548640"/>
          </a:xfrm>
          <a:prstGeom prst="rect">
            <a:avLst/>
          </a:prstGeom>
          <a:solidFill>
            <a:srgbClr val="E4F2FC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4663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Medical Affairs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0" y="4663440"/>
            <a:ext cx="2103120" cy="548640"/>
          </a:xfrm>
          <a:prstGeom prst="rect">
            <a:avLst/>
          </a:prstGeom>
          <a:solidFill>
            <a:srgbClr val="E4F2FC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4663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15200" y="4663440"/>
            <a:ext cx="2103120" cy="548640"/>
          </a:xfrm>
          <a:prstGeom prst="rect">
            <a:avLst/>
          </a:prstGeom>
          <a:solidFill>
            <a:srgbClr val="E4F2FC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4663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Sales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601200" y="4663440"/>
            <a:ext cx="2103120" cy="548640"/>
          </a:xfrm>
          <a:prstGeom prst="rect">
            <a:avLst/>
          </a:prstGeom>
          <a:solidFill>
            <a:srgbClr val="E4F2FC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01200" y="4663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Market Access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54406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代表性技能：文献简报  ·  证据对比  ·  拜访准备  ·  产品问答  ·  异议处理  ·  培训脚本  ·  市场洞察总结  ·  合规审查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60807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销售随时调用 MD 签字的产品答案  ·  不是市场部写的销售话术。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04  ·  三类客户  ·  价值映射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146304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55664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梅斯健康集团  ·  2415.HK  ·  medscihealthcare.com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59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AI-Enabled. Physician-Verified. Globally Ready.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MAP  ·  THREE INDUSTRIES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药企  ·  医械  ·  IVD  ·  各自的 AI 价值。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同一套 AI 矩阵  ·  不同的商业化痛点  ·  不同的切入路径。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11274552" cy="457200"/>
          </a:xfrm>
          <a:prstGeom prst="rect">
            <a:avLst/>
          </a:prstGeom>
          <a:solidFill>
            <a:srgbClr val="001A5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1945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88920" y="219456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药企  ·  PHARMA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15584" y="219456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医疗器械  ·  MEDTECH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42248" y="219456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11274552" cy="7132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651760"/>
            <a:ext cx="2057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8B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核心痛点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88920" y="2651760"/>
            <a:ext cx="2889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MSL 覆盖不足  ·  KOL 关系碎片化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15584" y="2651760"/>
            <a:ext cx="2889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海外销售缺乏临床解读能力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42248" y="2651760"/>
            <a:ext cx="2889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510(k) 通过 ≠ 美国医生采纳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364992"/>
            <a:ext cx="2057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8B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DeepEvidence / MedXY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88920" y="3364992"/>
            <a:ext cx="2889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MSL 副驾  +  全球医学事务统一入口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15584" y="3364992"/>
            <a:ext cx="2889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设备读数即时鉴别诊断 + 本地化答疑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42248" y="3364992"/>
            <a:ext cx="2889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诊断结果 → 治疗路径桥接（CN + Intl）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78224"/>
            <a:ext cx="11274552" cy="7132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078224"/>
            <a:ext cx="2057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8B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SeekEvidence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88920" y="4078224"/>
            <a:ext cx="2889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上市后 IIT 设计 + 文献综述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15584" y="4078224"/>
            <a:ext cx="2889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注册研究方案 + 统计计划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842248" y="4078224"/>
            <a:ext cx="2889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China RWE → FDA 数据包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4791456"/>
            <a:ext cx="2057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8B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DeepInsight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88920" y="4791456"/>
            <a:ext cx="2889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处方信号 + KOL 影响力洞察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15584" y="4791456"/>
            <a:ext cx="2889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采购信号 + 院端覆盖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842248" y="4791456"/>
            <a:ext cx="2889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美国 POCT 处方信号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504688"/>
            <a:ext cx="11274552" cy="7132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5504688"/>
            <a:ext cx="2057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8B0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RCP  ·  敏捷验证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88920" y="5504688"/>
            <a:ext cx="2889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概念测试 + 消息验证 + 上市后反馈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15584" y="5504688"/>
            <a:ext cx="2889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新功能可行性 + KOL 立场扫描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842248" y="5504688"/>
            <a:ext cx="2889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诊断方案接受度 + 检测路径调研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05  ·  案例  ·  Pharma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146304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55664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梅斯健康集团  ·  2415.HK  ·  medscihealthcare.com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59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AI-Enabled. Physician-Verified. Globally Ready.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 ·  PHARMA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期刊主导  ·  学术圆桌  ·  合规触达。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用期刊权威 + 专家网络替代传统医学营销  ·  Verified 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530352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梅斯方案  ·  WHAT WE DID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880360"/>
            <a:ext cx="228600" cy="228600"/>
          </a:xfrm>
          <a:prstGeom prst="ellipse">
            <a:avLst/>
          </a:prstGeom>
          <a:solidFill>
            <a:srgbClr val="001A5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803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" y="28346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与行业期刊共同策划学术圆桌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520440"/>
            <a:ext cx="228600" cy="228600"/>
          </a:xfrm>
          <a:prstGeom prst="ellipse">
            <a:avLst/>
          </a:prstGeom>
          <a:solidFill>
            <a:srgbClr val="001A5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5204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34747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邀请主编 / 副主编  +  关键领域专家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160520"/>
            <a:ext cx="228600" cy="228600"/>
          </a:xfrm>
          <a:prstGeom prst="ellipse">
            <a:avLst/>
          </a:prstGeom>
          <a:solidFill>
            <a:srgbClr val="001A5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160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41148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企业邀请目标 KOL 参与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800600"/>
            <a:ext cx="228600" cy="228600"/>
          </a:xfrm>
          <a:prstGeom prst="ellipse">
            <a:avLst/>
          </a:prstGeom>
          <a:solidFill>
            <a:srgbClr val="001A5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800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7548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帮助医生对接期刊  ·  论文发表机会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5440680"/>
            <a:ext cx="228600" cy="228600"/>
          </a:xfrm>
          <a:prstGeom prst="ellipse">
            <a:avLst/>
          </a:prstGeom>
          <a:solidFill>
            <a:srgbClr val="001A5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440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53949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建立长期专家社群  ·  非一次性活动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35040" y="2194560"/>
            <a:ext cx="5669280" cy="4114800"/>
          </a:xfrm>
          <a:prstGeom prst="rect">
            <a:avLst/>
          </a:prstGeom>
          <a:solidFill>
            <a:srgbClr val="001A51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企业收益  ·  ENTERPRISE VALUE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2834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78040" y="283464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期刊主导  ·  非企业主导  ·  规避医学营销红线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3474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权威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78040" y="34747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顶刊编辑背书  ·  提升产品学术地位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4114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触达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78040" y="41148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高质量目标 HCP 触达  ·  非泛流量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留存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78040" y="47548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publication networking  ·  医师真正想要的资源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63640" y="5394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复用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78040" y="539496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圆桌 → 论文 → IIT  ·  一次投入多次产出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05  ·  案例  ·  IVD / MedTech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146304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55664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梅斯健康集团  ·  2415.HK  ·  medscihealthcare.com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59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AI-Enabled. Physician-Verified. Globally Ready.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 ·  RWE PROGRAM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ALK 阳性 NSCLC  ·  跨国 IVD 龙头。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项目已在同行评议出版物中披露  ·  客户名引用可于会后核实。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572000" cy="4114800"/>
          </a:xfrm>
          <a:prstGeom prst="rect">
            <a:avLst/>
          </a:prstGeom>
          <a:solidFill>
            <a:srgbClr val="001A5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5603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AE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19,000+</a:t>
            </a:r>
            <a:endParaRPr lang="en-US" sz="7200" dirty="0"/>
          </a:p>
        </p:txBody>
      </p:sp>
      <p:sp>
        <p:nvSpPr>
          <p:cNvPr id="13" name="Shape 11"/>
          <p:cNvSpPr/>
          <p:nvPr/>
        </p:nvSpPr>
        <p:spPr>
          <a:xfrm>
            <a:off x="1828800" y="402336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ALK 阳性病理样本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B8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中国  ·  多中心 RWE 采集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760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E9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22402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我们交付了什么  ·  WHAT WE DELIVERED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26060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中国多中心 RWE 研究 · 19,000+ ALK 阳性样本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3063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多场专家会议 · 证据 / 检测实践 / 临床意义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3520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共识开发 + 学术发表规划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3977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ALK 检测领域的中阶意见领袖社群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45262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  ·  OUTCOMES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4892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顶刊学术论文发表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5303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中国 ALK 阳性 NSCLC 患者人群的全景图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5715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显著提升临床医师对 ALK 检测的认知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06  ·  Hypothesis  ·  假设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146304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55664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梅斯健康集团  ·  2415.HK  ·  medscihealthcare.com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59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AI-Enabled. Physician-Verified. Globally Ready.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HYPOTHESIS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我们对你们下一阶段的假设。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如果我们说错  ·  这页之后的内容会根据你们的回答展开。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1127455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377440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8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554480" y="2514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市场端不知道为什么选你而不是竞品。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2971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→  KOL 圆桌  +  DeepEvidence 临床解读层。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1127455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03320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8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55448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指南 / 学协会立场还没有把你们纳入。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→  SeekEvidence 系统综述  +  结构化的学协会工作流。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029200"/>
            <a:ext cx="1127455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029200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88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554480" y="5166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销售手里的医学物料是市场部写的  ·  不是 MD 签的。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5623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→  MedSci API / SaaS  +  PITL 签字的产品知识助手。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3550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告诉我们哪里说错了  ·  这是最有价值的反馈。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07  ·  Engagement  ·  合作路径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146304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55664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梅斯健康集团  ·  2415.HK  ·  medscihealthcare.com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59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AI-Enabled. Physician-Verified. Globally Ready.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FUNNEL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三层合作漏斗  ·  低风险验证入口。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不需要现在签大合同  ·  三周内你就能判断我们值不值得继续谈。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31520" y="3108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429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试点冲刺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在你们的一条产品线上验证我们的医学笔触 + 合规纪律  ·  一份 MD 签字的内容。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486400"/>
            <a:ext cx="274320" cy="36576"/>
          </a:xfrm>
          <a:prstGeom prst="rect">
            <a:avLst/>
          </a:prstGeom>
          <a:solidFill>
            <a:srgbClr val="00AED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623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入门档  ·  主站可查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51960" y="2286000"/>
            <a:ext cx="3566160" cy="3657600"/>
          </a:xfrm>
          <a:prstGeom prst="rect">
            <a:avLst/>
          </a:prstGeom>
          <a:solidFill>
            <a:srgbClr val="001A51"/>
          </a:solidFill>
          <a:ln w="12700">
            <a:solidFill>
              <a:srgbClr val="001A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526280" y="3108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B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3429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+ 证据缺口诊断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526280" y="402336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围绕一条产品线  ·  输出证据缺口报告 + KOL 短名单 + AI 工作流原型。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26280" y="5486400"/>
            <a:ext cx="274320" cy="36576"/>
          </a:xfrm>
          <a:prstGeom prst="rect">
            <a:avLst/>
          </a:prstGeom>
          <a:solidFill>
            <a:srgbClr val="00AEDB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5623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AED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试点档  ·  主站可查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46720" y="228600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321040" y="3108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季度起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21040" y="3429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完整集成项目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8321040" y="402336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 矩阵在你们企业系统内的完整集成  ·  含 API / SaaS / Skills / PITL 全链路。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321040" y="5486400"/>
            <a:ext cx="274320" cy="36576"/>
          </a:xfrm>
          <a:prstGeom prst="rect">
            <a:avLst/>
          </a:prstGeom>
          <a:solidFill>
            <a:srgbClr val="00AEDB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5623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项目报价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medscihealthcare.com/pilots  ·  价格档位主站可查  ·  透明定价是信任锚。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07  ·  Engagement  ·  合规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146304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55664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梅斯健康集团  ·  2415.HK  ·  medscihealthcare.com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59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AI-Enabled. Physician-Verified. Globally Ready.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SECURITY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合规、伙伴、AI 未来。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在企业级安全与可审计基础设施之上交付。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3566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86000"/>
            <a:ext cx="3566160" cy="548640"/>
          </a:xfrm>
          <a:prstGeom prst="rect">
            <a:avLst/>
          </a:prstGeom>
          <a:solidFill>
            <a:srgbClr val="001A5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86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合规与安全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ISO 27001 对齐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520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端到端数据加密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基于角色的访问控制（RBAC）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526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审计级追溯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029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GDPR · HIPAA 对齐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51960" y="2286000"/>
            <a:ext cx="3566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51960" y="2286000"/>
            <a:ext cx="3566160" cy="548640"/>
          </a:xfrm>
          <a:prstGeom prst="rect">
            <a:avLst/>
          </a:prstGeom>
          <a:solidFill>
            <a:srgbClr val="005AA4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2286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伙伴生态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2628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制药企业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26280" y="3520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医疗器械与 IVD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医院与医疗系统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26280" y="4526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高校与科研机构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26280" y="5029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医学出版与学协会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46720" y="2286000"/>
            <a:ext cx="3566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0" y="2286000"/>
            <a:ext cx="3566160" cy="548640"/>
          </a:xfrm>
          <a:prstGeom prst="rect">
            <a:avLst/>
          </a:prstGeom>
          <a:solidFill>
            <a:srgbClr val="0088B0"/>
          </a:solidFill>
          <a:ln/>
        </p:spPr>
      </p:sp>
      <p:sp>
        <p:nvSpPr>
          <p:cNvPr id="29" name="Text 27"/>
          <p:cNvSpPr/>
          <p:nvPr/>
        </p:nvSpPr>
        <p:spPr>
          <a:xfrm>
            <a:off x="8275320" y="2286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未来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2104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建立在可信医学知识之上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21040" y="3520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面向决策的企业级智能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2104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基于真实世界数据持续学习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21040" y="4526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支持全球协作的可扩展平台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21040" y="5029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改善医疗可及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梅斯把证据、医生与企业连接在 AI 时代  ·  Improving Healthcare Quality.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07  ·  Engagement  ·  反向尽调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146304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55664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梅斯健康集团  ·  2415.HK  ·  medscihealthcare.com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59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AI-Enabled. Physician-Verified. Globally Ready.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DUE DILIGENCE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把官网当作尽调材料。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今天讲的所有内容你都不必信  ·  打开网站  ·  五分钟做判断。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530352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透明度原则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8346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全站 EN / zh-CN 双语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4290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每个数据点都带年份与来源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0233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每个证据声明都打标签 · Verified ✓ · In Development ◐ · On Request 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4617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多法域公开法律披露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52120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·  五分钟决定我们值不值得深聊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2194560"/>
            <a:ext cx="5669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DEEPLINK MAP  ·  关键路径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2834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/about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95360" y="2834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管理层与资质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3337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/ai-platform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95360" y="3337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 资产 + 产品矩阵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3840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/solutions/pharma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95360" y="3840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药企解决方案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4343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/solutions/medtech-ivd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0" y="4343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医械 / IVD 解决方案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4846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/pilots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95360" y="4846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试点档位与价格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63640" y="5349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/legal/disclosures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95360" y="53492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多法域披露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3550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medscihealthcare.com  ·  按反向尽调材料的标准构建。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1A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0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三种开始合作的方式。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FB8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接下来想怎么走  ·  你来选。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91672" cy="1005840"/>
          </a:xfrm>
          <a:prstGeom prst="rect">
            <a:avLst/>
          </a:prstGeom>
          <a:solidFill>
            <a:srgbClr val="001037"/>
          </a:solidFill>
          <a:ln w="12700">
            <a:solidFill>
              <a:srgbClr val="005A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0604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27432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分钟技术深聊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31089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8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 AI 团队  ×  你们医学部 / 数字化负责人  ·  围绕一条产品线讨论 AI 矩阵（DeepEvidence/MedXY · SeekEvidence · RCP · DeepInsight）的契合度。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1091672" cy="1005840"/>
          </a:xfrm>
          <a:prstGeom prst="rect">
            <a:avLst/>
          </a:prstGeom>
          <a:solidFill>
            <a:srgbClr val="001037"/>
          </a:solidFill>
          <a:ln w="12700">
            <a:solidFill>
              <a:srgbClr val="005A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74904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8862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Sprint 提案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42519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8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72 小时内出一份针对你们一条产品线的提案  ·  交付清单 / MD 审阅人 / 审计方案 / 价格。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11091672" cy="1005840"/>
          </a:xfrm>
          <a:prstGeom prst="rect">
            <a:avLst/>
          </a:prstGeom>
          <a:solidFill>
            <a:srgbClr val="001037"/>
          </a:solidFill>
          <a:ln w="12700">
            <a:solidFill>
              <a:srgbClr val="005A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89204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50292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互访  ·  现场看 PITL 工作流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53949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8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上海（梅斯）或你们办公地  ·  现场看 PITL 工作流与审计追溯演示。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AI-Enabled. Physician-Verified. Globally Ready.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8E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梅斯健康集团  ·  2415.HK  ·  medscihealthcare.com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BACKUP  ·  按需调取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146304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455664"/>
            <a:ext cx="11274552" cy="10973"/>
          </a:xfrm>
          <a:prstGeom prst="rect">
            <a:avLst/>
          </a:prstGeom>
          <a:solidFill>
            <a:srgbClr val="E5EA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1052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梅斯健康集团  ·  2415.HK  ·  medscihealthcare.com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510528"/>
            <a:ext cx="3959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AI-Enabled. Physician-Verified. Globally Ready.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  ·  CHINA DOMESTIC MARKETING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数字化营销解决方案（中国）。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若对方询问国内市场推广能力  ·  此页用于现场拉出。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35661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68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iDocEco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1520" y="2999232"/>
            <a:ext cx="274320" cy="36576"/>
          </a:xfrm>
          <a:prstGeom prst="rect">
            <a:avLst/>
          </a:prstGeom>
          <a:solidFill>
            <a:srgbClr val="00AED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089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专科协作平台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51960" y="2286000"/>
            <a:ext cx="35661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2468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iPatFlow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526280" y="2999232"/>
            <a:ext cx="274320" cy="36576"/>
          </a:xfrm>
          <a:prstGeom prst="rect">
            <a:avLst/>
          </a:prstGeom>
          <a:solidFill>
            <a:srgbClr val="00AEDB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31089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患者旅程管理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2286000"/>
            <a:ext cx="35661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468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iMarkAcce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321040" y="2999232"/>
            <a:ext cx="274320" cy="36576"/>
          </a:xfrm>
          <a:prstGeom prst="rect">
            <a:avLst/>
          </a:prstGeom>
          <a:solidFill>
            <a:srgbClr val="00AEDB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31089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学术营销加速器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35661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160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APOC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31520" y="4690872"/>
            <a:ext cx="274320" cy="36576"/>
          </a:xfrm>
          <a:prstGeom prst="rect">
            <a:avLst/>
          </a:prstGeom>
          <a:solidFill>
            <a:srgbClr val="00AEDB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800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学术内容精准推送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51960" y="3977640"/>
            <a:ext cx="35661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4160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A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SCRM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526280" y="4690872"/>
            <a:ext cx="274320" cy="36576"/>
          </a:xfrm>
          <a:prstGeom prst="rect">
            <a:avLst/>
          </a:prstGeom>
          <a:solidFill>
            <a:srgbClr val="00AEDB"/>
          </a:solidFill>
          <a:ln/>
        </p:spPr>
      </p:sp>
      <p:sp>
        <p:nvSpPr>
          <p:cNvPr id="30" name="Text 28"/>
          <p:cNvSpPr/>
          <p:nvPr/>
        </p:nvSpPr>
        <p:spPr>
          <a:xfrm>
            <a:off x="4526280" y="4800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医师互动与服务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1A5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如果你们的中国业务也需要数字化营销加速  ·  这套模块可以直接复用。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MedSci Healthcare · 2415.HK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梅斯健康 AI 产品矩阵 - BD Pitch</dc:title>
  <dc:subject>PptxGenJS Presentation</dc:subject>
  <dc:creator>MedSci Healthcare</dc:creator>
  <cp:lastModifiedBy>MedSci Healthcare</cp:lastModifiedBy>
  <cp:revision>1</cp:revision>
  <dcterms:created xsi:type="dcterms:W3CDTF">2026-05-12T19:38:28Z</dcterms:created>
  <dcterms:modified xsi:type="dcterms:W3CDTF">2026-05-12T19:38:28Z</dcterms:modified>
</cp:coreProperties>
</file>